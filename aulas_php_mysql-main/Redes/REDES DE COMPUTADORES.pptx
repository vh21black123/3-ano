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3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1" r:id="rId14"/>
    <p:sldId id="274" r:id="rId15"/>
    <p:sldId id="275" r:id="rId16"/>
    <p:sldId id="276" r:id="rId17"/>
    <p:sldId id="277" r:id="rId18"/>
    <p:sldId id="278" r:id="rId19"/>
    <p:sldId id="279" r:id="rId20"/>
    <p:sldId id="282" r:id="rId21"/>
    <p:sldId id="283" r:id="rId22"/>
    <p:sldId id="260" r:id="rId23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48" autoAdjust="0"/>
  </p:normalViewPr>
  <p:slideViewPr>
    <p:cSldViewPr snapToGrid="0">
      <p:cViewPr varScale="1">
        <p:scale>
          <a:sx n="60" d="100"/>
          <a:sy n="60" d="100"/>
        </p:scale>
        <p:origin x="72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7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17C7B7-34F5-4531-9889-28687F60FAC8}" type="datetime1">
              <a:rPr lang="pt-BR" smtClean="0"/>
              <a:t>03/03/2026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3EC75-555C-481D-9088-738CE6DDFC83}" type="datetime1">
              <a:rPr lang="pt-BR" smtClean="0"/>
              <a:pPr/>
              <a:t>03/03/2026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F5B136-74F1-42D3-987D-A097EEF8F2FE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4AF3F4-81C7-4F15-8991-6D0E8D06651A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E2946E4-8964-43BF-B1D5-4261B83248E5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C9F420-083C-437A-9265-7F13EB97C6A2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07AF20-ED70-4B21-B799-75BB5818AB43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33D876-8C34-42FC-BFF7-457557B97BB7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2437E-206F-4A1C-947F-806A50A40B88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036DDBC-F1EF-4D09-A533-5995BC167053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FDDC01-A1CF-4C3A-BE96-FBC60101324D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29B074-15EB-43FB-8347-3A734D799093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36303E3-8DE9-4C2D-91EE-6F377AE582A8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2266794-2CD5-4ED3-94F8-8B8DC65FDDE3}" type="datetime1">
              <a:rPr lang="pt-BR" noProof="0" smtClean="0"/>
              <a:t>03/03/2026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pt-BR" sz="6000" dirty="0">
                <a:solidFill>
                  <a:schemeClr val="bg1"/>
                </a:solidFill>
              </a:rPr>
              <a:t>REDES DE COMPUTADORES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endParaRPr lang="pt-BR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ACD7F-0D50-3FF3-A15D-E71C81870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avanço da comunicação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CA2B12-0B26-A947-E751-F782F5BE7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308559"/>
            <a:ext cx="110680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75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620E7-5BAC-CDE7-C13E-FF14FABE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E062BC-B745-85DD-C631-2AFFE9455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663" y="2180496"/>
            <a:ext cx="10215144" cy="3678303"/>
          </a:xfrm>
        </p:spPr>
        <p:txBody>
          <a:bodyPr>
            <a:normAutofit/>
          </a:bodyPr>
          <a:lstStyle/>
          <a:p>
            <a:r>
              <a:rPr lang="pt-BR" sz="2400" dirty="0"/>
              <a:t>Uma rede de computadores é a forma de conectarmos equipamentos a fim de que possamos estabelecer uma comunicação entre os mesmos fazendo com que eles troquem dados, informações e serviços. </a:t>
            </a:r>
          </a:p>
        </p:txBody>
      </p:sp>
    </p:spTree>
    <p:extLst>
      <p:ext uri="{BB962C8B-B14F-4D97-AF65-F5344CB8AC3E}">
        <p14:creationId xmlns:p14="http://schemas.microsoft.com/office/powerpoint/2010/main" val="2869987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DD28-17D0-3AF8-DFDC-ABCEB511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2FF03-3523-D6EF-B33B-18B2652F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REDES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BAFA4B-6303-BCD8-22DB-7A17F6C79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663" y="2180496"/>
            <a:ext cx="10215144" cy="3678303"/>
          </a:xfrm>
        </p:spPr>
        <p:txBody>
          <a:bodyPr>
            <a:normAutofit/>
          </a:bodyPr>
          <a:lstStyle/>
          <a:p>
            <a:r>
              <a:rPr lang="pt-BR" dirty="0"/>
              <a:t>As redes de computadores, apesar do nome, envolvem muito mais que apenas computadores, mas abrangem uma gama de dispositivos e equipamentos</a:t>
            </a:r>
            <a:r>
              <a:rPr lang="pt-BR" sz="2400" dirty="0"/>
              <a:t> </a:t>
            </a:r>
            <a:r>
              <a:rPr lang="pt-BR" dirty="0"/>
              <a:t>como celulares, tablets, impressoras, TVs, carros, videogames e até eletrodomésticos.</a:t>
            </a:r>
            <a:r>
              <a:rPr lang="pt-BR" sz="2400" dirty="0"/>
              <a:t> </a:t>
            </a:r>
            <a:br>
              <a:rPr lang="pt-BR" sz="2400" dirty="0"/>
            </a:b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2624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8C740-AB91-8085-9D44-34376A76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85194-B9C6-7A57-5D9E-46F7B36C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que podem ser transmitidos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6CCFED-089D-6B1D-833A-6AA35E4C3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5663" y="2180496"/>
            <a:ext cx="10215144" cy="3678303"/>
          </a:xfrm>
        </p:spPr>
        <p:txBody>
          <a:bodyPr>
            <a:normAutofit/>
          </a:bodyPr>
          <a:lstStyle/>
          <a:p>
            <a:r>
              <a:rPr lang="pt-BR" dirty="0"/>
              <a:t>os computadores processam informações calculando bits que podem ser convertidos em impulsos elétricos, portanto </a:t>
            </a:r>
            <a:r>
              <a:rPr lang="pt-BR" b="1" dirty="0"/>
              <a:t>toda informação que pode ser processada em bits, pode ser transmitida em uma rede</a:t>
            </a:r>
            <a:r>
              <a:rPr lang="pt-BR" dirty="0"/>
              <a:t>. </a:t>
            </a:r>
          </a:p>
          <a:p>
            <a:r>
              <a:rPr lang="pt-BR" dirty="0"/>
              <a:t>Sendo assim, o que não pode?</a:t>
            </a:r>
            <a:br>
              <a:rPr lang="pt-BR" dirty="0"/>
            </a:b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598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2F1FA-A26A-E35B-5405-D39548BE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ponto a ponto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6D22D0-BA47-36F9-02F2-D6C5E1ECA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computadores são ligados entre si para a troca de informações, porém a maioria dos recursos não pode ser compartilhada fazendo com que cada </a:t>
            </a:r>
            <a:r>
              <a:rPr lang="pt-BR" b="1" dirty="0"/>
              <a:t>host </a:t>
            </a:r>
            <a:r>
              <a:rPr lang="pt-BR" dirty="0"/>
              <a:t>deva possuir os próprios recursos e aplicações como um programa, </a:t>
            </a:r>
            <a:br>
              <a:rPr lang="pt-BR" dirty="0"/>
            </a:br>
            <a:endParaRPr lang="pt-BR" dirty="0"/>
          </a:p>
        </p:txBody>
      </p:sp>
      <p:pic>
        <p:nvPicPr>
          <p:cNvPr id="1026" name="Picture 2" descr="Topologia Ponto a Ponto: conheça esse formato de rede!">
            <a:extLst>
              <a:ext uri="{FF2B5EF4-FFF2-40B4-BE49-F238E27FC236}">
                <a16:creationId xmlns:a16="http://schemas.microsoft.com/office/drawing/2014/main" id="{C7E03C99-7F35-117C-1F50-578D554A1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49" y="1715956"/>
            <a:ext cx="67437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197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28DB-A4F3-44BA-99FC-7C9EB3C9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9282A-A532-3542-098B-13326209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cliente-servidor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9BB947-1328-83BD-E784-5E7332CE8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segundo tipo é a arquitetura </a:t>
            </a:r>
            <a:r>
              <a:rPr lang="pt-BR" b="1" dirty="0"/>
              <a:t>cliente-servidor</a:t>
            </a:r>
            <a:r>
              <a:rPr lang="pt-BR" dirty="0"/>
              <a:t>, onde todos os hosts, chamados de clientes, se comunicam com uma máquina principal, chamada de servidor </a:t>
            </a:r>
          </a:p>
          <a:p>
            <a:r>
              <a:rPr lang="pt-BR" dirty="0"/>
              <a:t>O servidor provê todas as aplicações e serviços e consegue gerenciar o acesso aos recursos da rede como impressoras, por exemplo </a:t>
            </a:r>
          </a:p>
          <a:p>
            <a:r>
              <a:rPr lang="pt-BR" dirty="0"/>
              <a:t>Normalmente um servidor é uma máquina mais robusta que as máquinas clientes, pois ela armazena e processa um grande número de informações, além de precisar estar sempre ligada para que haja tráfego de informações na rede. 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2050" name="Picture 2" descr="Redes P2P">
            <a:extLst>
              <a:ext uri="{FF2B5EF4-FFF2-40B4-BE49-F238E27FC236}">
                <a16:creationId xmlns:a16="http://schemas.microsoft.com/office/drawing/2014/main" id="{EF27CDDB-18A0-7706-3EDC-AA1823394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186" y="4463214"/>
            <a:ext cx="42291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619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48CE-A53C-8C87-7419-77346FE8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B97EE-B2B3-4016-F8D9-819E1E4B0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 a transmissão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F21ECF-D718-C711-ECD6-F2073E4D5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434126" cy="1611575"/>
          </a:xfrm>
        </p:spPr>
        <p:txBody>
          <a:bodyPr>
            <a:normAutofit/>
          </a:bodyPr>
          <a:lstStyle/>
          <a:p>
            <a:r>
              <a:rPr lang="pt-BR" sz="2400" dirty="0"/>
              <a:t>Como funciona a transmissão entre os seres humanos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992747-FC32-5748-688C-9F53470AD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579" y="1936377"/>
            <a:ext cx="5191716" cy="452717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EC9990F-6C41-7246-A884-EF5884F9D663}"/>
              </a:ext>
            </a:extLst>
          </p:cNvPr>
          <p:cNvSpPr txBox="1"/>
          <p:nvPr/>
        </p:nvSpPr>
        <p:spPr>
          <a:xfrm>
            <a:off x="581192" y="4036190"/>
            <a:ext cx="54341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80000"/>
              <a:buFont typeface="Wingdings" panose="05000000000000000000" pitchFamily="2" charset="2"/>
              <a:buChar char="q"/>
            </a:pPr>
            <a:r>
              <a:rPr lang="pt-BR" sz="2400" dirty="0"/>
              <a:t>Em redes de computadores sempre existe um transmissor, um receptor e uma informação a ser enviada. </a:t>
            </a:r>
          </a:p>
        </p:txBody>
      </p:sp>
    </p:spTree>
    <p:extLst>
      <p:ext uri="{BB962C8B-B14F-4D97-AF65-F5344CB8AC3E}">
        <p14:creationId xmlns:p14="http://schemas.microsoft.com/office/powerpoint/2010/main" val="335374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A1DB4-EE2A-EC2E-2E95-A5932D3F4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B5223-E176-7C2E-EC4A-E0608C83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 a transmissão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11D719-80A5-1833-0910-8F0377479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b="1" dirty="0"/>
              <a:t>Transmissor: </a:t>
            </a:r>
            <a:r>
              <a:rPr lang="pt-BR" sz="2000" dirty="0"/>
              <a:t>é o dispositivo (computador, telefone, câmera) que envia a informação.</a:t>
            </a:r>
          </a:p>
          <a:p>
            <a:r>
              <a:rPr lang="pt-BR" sz="2000" b="1" dirty="0"/>
              <a:t>Receptor: </a:t>
            </a:r>
            <a:r>
              <a:rPr lang="pt-BR" sz="2000" dirty="0"/>
              <a:t>é o dispositivo a quem foi endereçada a informação. O receptor vai receber a mensagem enviada pelo transmissor.</a:t>
            </a:r>
          </a:p>
          <a:p>
            <a:r>
              <a:rPr lang="pt-BR" sz="2000" b="1" dirty="0"/>
              <a:t>Mensagem: </a:t>
            </a:r>
            <a:r>
              <a:rPr lang="pt-BR" sz="2000" dirty="0"/>
              <a:t>são os dados e as informações que precisam ser enviados.</a:t>
            </a:r>
          </a:p>
          <a:p>
            <a:r>
              <a:rPr lang="pt-BR" sz="2000" b="1" dirty="0"/>
              <a:t>Meio: </a:t>
            </a:r>
            <a:r>
              <a:rPr lang="pt-BR" sz="2000" dirty="0"/>
              <a:t>é o meio físico, ou seja, o caminho pelo qual a mensagem trafegará do transmissor até chegar ao receptor.</a:t>
            </a:r>
          </a:p>
          <a:p>
            <a:r>
              <a:rPr lang="pt-BR" sz="2000" b="1" dirty="0"/>
              <a:t>Protocolo: </a:t>
            </a:r>
            <a:r>
              <a:rPr lang="pt-BR" sz="2000" dirty="0"/>
              <a:t>controla o envio e recepção da mensagem e define alguns aspectos como formato da mensagem e ordem de chegada. Tanto o transmissor quanto o receptor devem estar seguindo o mesmo protocolo. </a:t>
            </a:r>
          </a:p>
        </p:txBody>
      </p:sp>
    </p:spTree>
    <p:extLst>
      <p:ext uri="{BB962C8B-B14F-4D97-AF65-F5344CB8AC3E}">
        <p14:creationId xmlns:p14="http://schemas.microsoft.com/office/powerpoint/2010/main" val="12269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429E-FFA8-182A-3F7B-9EE304E30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3E99D-1E01-CF4A-C627-903DCA338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 a transmissão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5B306-FF83-DB1C-C092-4F0BCA4CC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b="1" dirty="0"/>
              <a:t>Para que a comunicação de dados obtenha sucesso ela necessita de três atributos</a:t>
            </a:r>
          </a:p>
          <a:p>
            <a:r>
              <a:rPr lang="pt-BR" b="1" dirty="0"/>
              <a:t>Entrega: </a:t>
            </a:r>
            <a:r>
              <a:rPr lang="pt-BR" dirty="0"/>
              <a:t>os dados devem estar endereçados corretamente. Deve-se ter a certeza de que a informação será entregue ao destinatário correto.</a:t>
            </a:r>
          </a:p>
          <a:p>
            <a:r>
              <a:rPr lang="pt-BR" b="1" dirty="0"/>
              <a:t>Confiabilidade: </a:t>
            </a:r>
            <a:r>
              <a:rPr lang="pt-BR" dirty="0"/>
              <a:t>os dados devem chegar ao destino, e mais do que simplesmente chegar, os dados devem estar intactos, sem nenhum tipo de alteração e sem faltar nenhuma parte da informação.</a:t>
            </a:r>
          </a:p>
          <a:p>
            <a:r>
              <a:rPr lang="pt-BR" b="1" dirty="0"/>
              <a:t>Controle do Atraso: </a:t>
            </a:r>
            <a:r>
              <a:rPr lang="pt-BR" dirty="0"/>
              <a:t>o tempo que a informação possui para chegar ao destino não pode ser indeterminado. Deve haver um tempo limite para que o destinatário a receba, principalmente no caso de aplicações multimídia em tempo real como áudio e vídeo. Não seria interessante, por exemplo, ao receber um vídeo, ver primeiro as imagens e só depois ouvir o áudio.</a:t>
            </a:r>
            <a:r>
              <a:rPr lang="pt-BR" sz="2000" dirty="0"/>
              <a:t> </a:t>
            </a:r>
            <a:br>
              <a:rPr lang="pt-BR" sz="2000" dirty="0"/>
            </a:b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09481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29080-15A5-78DE-5619-89E52F30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670FF-C69D-2371-87CE-33D8E943F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Modos de operação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6B85F8-AEB9-8532-B81D-999083092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b="1" dirty="0"/>
              <a:t>Simplex: </a:t>
            </a:r>
            <a:r>
              <a:rPr lang="pt-BR" sz="2400" dirty="0"/>
              <a:t>a transmissão é unidirecional. Só existe um transmissor e um canal de transmissão. Quaisquer outros componentes que apareçam na comunicação serão receptores. Exemplos: televisão e radiodifusão.</a:t>
            </a:r>
          </a:p>
          <a:p>
            <a:r>
              <a:rPr lang="pt-BR" sz="2400" b="1" dirty="0"/>
              <a:t>Half-duplex: </a:t>
            </a:r>
            <a:r>
              <a:rPr lang="pt-BR" sz="2400" dirty="0"/>
              <a:t>a transmissão é bidirecional, ou seja, as duas partes transmitem e também são receptoras, mas, assim como no modo simplex, existe somente um canal de transmissão, portanto só é possível transmitir um por vez. Exemplo: walkie-talkie.</a:t>
            </a:r>
          </a:p>
          <a:p>
            <a:r>
              <a:rPr lang="pt-BR" sz="2400" b="1" dirty="0"/>
              <a:t>Full-duplex: </a:t>
            </a:r>
            <a:r>
              <a:rPr lang="pt-BR" sz="2400" dirty="0"/>
              <a:t>é o modo de transmissão mais completo, já que ambas as partes podem transmitir e receber dados simultaneamente, pois existem dois canais de transmissão. Exemplo: telefone. </a:t>
            </a:r>
          </a:p>
        </p:txBody>
      </p:sp>
    </p:spTree>
    <p:extLst>
      <p:ext uri="{BB962C8B-B14F-4D97-AF65-F5344CB8AC3E}">
        <p14:creationId xmlns:p14="http://schemas.microsoft.com/office/powerpoint/2010/main" val="2006834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A0C3E-4012-C967-CCAB-AF6EFF564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A29C8-B7B2-DB39-51EA-5229D8E20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Modos de operação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FB124E8-0AAE-AF72-A744-CF6BF42E4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727" y="1917282"/>
            <a:ext cx="5380874" cy="47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55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9ECCE-D18A-7706-6D2B-D844CB256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61192-9C28-7857-952B-8780A4894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Meios de comunicação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D6F452-20F0-C371-95BD-FA21E653C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15956"/>
            <a:ext cx="11029615" cy="4909433"/>
          </a:xfrm>
        </p:spPr>
        <p:txBody>
          <a:bodyPr>
            <a:noAutofit/>
          </a:bodyPr>
          <a:lstStyle/>
          <a:p>
            <a:r>
              <a:rPr lang="pt-BR" sz="2400" dirty="0"/>
              <a:t>Para que a transmissão aconteça é necessário que exista um meio de os dados saírem de um host e chegarem a outro, ou seja, uma forma de propagação </a:t>
            </a:r>
          </a:p>
          <a:p>
            <a:r>
              <a:rPr lang="pt-BR" sz="2400" dirty="0"/>
              <a:t>Cabos elétricos</a:t>
            </a:r>
          </a:p>
          <a:p>
            <a:pPr lvl="1"/>
            <a:r>
              <a:rPr lang="pt-BR" sz="1800" dirty="0"/>
              <a:t>As placas de rede com fio são responsáveis por converter dados em bits e bits em impulsos elétricos que podem trafegar por um cabo de energia </a:t>
            </a:r>
          </a:p>
          <a:p>
            <a:r>
              <a:rPr lang="pt-BR" sz="2400" dirty="0"/>
              <a:t>Fibras ópticas</a:t>
            </a:r>
          </a:p>
          <a:p>
            <a:pPr lvl="1"/>
            <a:r>
              <a:rPr lang="pt-BR" sz="1800" dirty="0"/>
              <a:t>A transmissão feita por raios luminosos é bem mais eficaz que a feita pela eletricidade, pois o sinal se propaga mais rápido e não sofre com interferências eletromagnéticas</a:t>
            </a:r>
            <a:r>
              <a:rPr lang="pt-BR" dirty="0"/>
              <a:t>. </a:t>
            </a:r>
            <a:endParaRPr lang="pt-BR" sz="2400" dirty="0"/>
          </a:p>
          <a:p>
            <a:r>
              <a:rPr lang="pt-BR" sz="2400" dirty="0"/>
              <a:t>Radiofrequência</a:t>
            </a:r>
          </a:p>
          <a:p>
            <a:pPr lvl="1"/>
            <a:r>
              <a:rPr lang="pt-BR" sz="1800" dirty="0"/>
              <a:t>Pelo ar podemos transmitir </a:t>
            </a:r>
            <a:r>
              <a:rPr lang="pt-BR" sz="1800" b="1" dirty="0"/>
              <a:t>ondas de </a:t>
            </a:r>
            <a:r>
              <a:rPr lang="pt-BR" sz="1800" b="1" dirty="0" err="1"/>
              <a:t>radiofreqüência</a:t>
            </a:r>
            <a:r>
              <a:rPr lang="pt-BR" sz="1800" b="1" dirty="0"/>
              <a:t> </a:t>
            </a:r>
            <a:r>
              <a:rPr lang="pt-BR" sz="1800" dirty="0"/>
              <a:t>através de antenas e efetuar a comunicação entre elementos previamente configurados para este fim. 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3437316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3235C-D9EE-0D34-2D61-0ECF99E8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Cabos de par trançado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FC5444-76C3-C370-E72B-9B64EBA11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Meio de transmissão mais comumente encontrado no nosso dia a dia</a:t>
            </a:r>
          </a:p>
          <a:p>
            <a:r>
              <a:rPr lang="pt-BR" sz="2400" dirty="0"/>
              <a:t>São compostos por fio de cobre que transmitem através de impulsos elétricos</a:t>
            </a:r>
          </a:p>
          <a:p>
            <a:r>
              <a:rPr lang="pt-BR" sz="2400" dirty="0"/>
              <a:t>São enrolados dois a dois e também interlaçados entre si para evitar interferência elétrica</a:t>
            </a:r>
          </a:p>
        </p:txBody>
      </p:sp>
    </p:spTree>
    <p:extLst>
      <p:ext uri="{BB962C8B-B14F-4D97-AF65-F5344CB8AC3E}">
        <p14:creationId xmlns:p14="http://schemas.microsoft.com/office/powerpoint/2010/main" val="143599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16815-C17C-109E-2C8E-FC5668BE8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BADF0-3926-67D0-9C7A-A0CF4D3CC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Cabos de par trançado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D111D7-677D-2301-06BC-FCC11373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Tipos de cabos</a:t>
            </a:r>
          </a:p>
          <a:p>
            <a:r>
              <a:rPr lang="pt-BR" dirty="0"/>
              <a:t>UTP (</a:t>
            </a:r>
            <a:r>
              <a:rPr lang="pt-BR" dirty="0" err="1"/>
              <a:t>Unshielded</a:t>
            </a:r>
            <a:r>
              <a:rPr lang="pt-BR" dirty="0"/>
              <a:t> </a:t>
            </a:r>
            <a:r>
              <a:rPr lang="pt-BR" dirty="0" err="1"/>
              <a:t>Twisted</a:t>
            </a:r>
            <a:r>
              <a:rPr lang="pt-BR" dirty="0"/>
              <a:t> </a:t>
            </a:r>
            <a:r>
              <a:rPr lang="pt-BR" dirty="0" err="1"/>
              <a:t>Pair</a:t>
            </a:r>
            <a:r>
              <a:rPr lang="pt-BR" dirty="0"/>
              <a:t>) – não possuem blindagem. São protegidos apenas por uma capa de plástico</a:t>
            </a:r>
          </a:p>
          <a:p>
            <a:pPr lvl="2"/>
            <a:r>
              <a:rPr lang="pt-BR" dirty="0"/>
              <a:t>Taxas de transmissão de 10Mbps a 10Gbps</a:t>
            </a:r>
          </a:p>
          <a:p>
            <a:r>
              <a:rPr lang="pt-BR" dirty="0"/>
              <a:t>FTP (</a:t>
            </a:r>
            <a:r>
              <a:rPr lang="pt-BR" dirty="0" err="1"/>
              <a:t>Foiled</a:t>
            </a:r>
            <a:r>
              <a:rPr lang="pt-BR" dirty="0"/>
              <a:t> </a:t>
            </a:r>
            <a:r>
              <a:rPr lang="pt-BR" dirty="0" err="1"/>
              <a:t>Twisted</a:t>
            </a:r>
            <a:r>
              <a:rPr lang="pt-BR" dirty="0"/>
              <a:t> </a:t>
            </a:r>
            <a:r>
              <a:rPr lang="pt-BR" dirty="0" err="1"/>
              <a:t>Pair</a:t>
            </a:r>
            <a:r>
              <a:rPr lang="pt-BR" dirty="0"/>
              <a:t>) – Possuem blindagem feita com uma folha de alumínio</a:t>
            </a:r>
          </a:p>
          <a:p>
            <a:r>
              <a:rPr lang="pt-BR" dirty="0"/>
              <a:t>STP (</a:t>
            </a:r>
            <a:r>
              <a:rPr lang="pt-BR" dirty="0" err="1"/>
              <a:t>Shielded</a:t>
            </a:r>
            <a:r>
              <a:rPr lang="pt-BR" dirty="0"/>
              <a:t> </a:t>
            </a:r>
            <a:r>
              <a:rPr lang="pt-BR" dirty="0" err="1"/>
              <a:t>Twisted</a:t>
            </a:r>
            <a:r>
              <a:rPr lang="pt-BR" dirty="0"/>
              <a:t> </a:t>
            </a:r>
            <a:r>
              <a:rPr lang="pt-BR" dirty="0" err="1"/>
              <a:t>Pair</a:t>
            </a:r>
            <a:r>
              <a:rPr lang="pt-BR" dirty="0"/>
              <a:t>) – Blindagem é feita a cada par de cabos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77224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3A0A-C59A-ED7C-8556-AA7C50E5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55C4F-567A-F9EC-0A0B-45DE3F48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Cabos de par trançado</a:t>
            </a:r>
          </a:p>
        </p:txBody>
      </p:sp>
      <p:pic>
        <p:nvPicPr>
          <p:cNvPr id="1026" name="Picture 2" descr="Cabos de Rede e suas Blindagens!">
            <a:extLst>
              <a:ext uri="{FF2B5EF4-FFF2-40B4-BE49-F238E27FC236}">
                <a16:creationId xmlns:a16="http://schemas.microsoft.com/office/drawing/2014/main" id="{E3C4DB27-DFA1-D957-BD90-84D6B8750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892" y="1910346"/>
            <a:ext cx="6940216" cy="4626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359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BA891-7786-BA8A-BA29-2334CC125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Cabos coaxiais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21A812-59A2-1169-1303-C9FC35C40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097713" cy="3678303"/>
          </a:xfrm>
        </p:spPr>
        <p:txBody>
          <a:bodyPr/>
          <a:lstStyle/>
          <a:p>
            <a:r>
              <a:rPr lang="pt-BR" dirty="0"/>
              <a:t>Antecessor do cabo de par trançado</a:t>
            </a:r>
          </a:p>
          <a:p>
            <a:r>
              <a:rPr lang="pt-BR" dirty="0"/>
              <a:t>Mais utilizados para transmissão de sinal de TV a cabo</a:t>
            </a:r>
          </a:p>
          <a:p>
            <a:r>
              <a:rPr lang="pt-BR" dirty="0"/>
              <a:t>Possui dois condutores e uma blindagem entre os condutores</a:t>
            </a:r>
          </a:p>
          <a:p>
            <a:r>
              <a:rPr lang="pt-BR" dirty="0"/>
              <a:t>São classificados pela resistência à passagem de corrente elétrica</a:t>
            </a:r>
          </a:p>
          <a:p>
            <a:pPr lvl="1"/>
            <a:r>
              <a:rPr lang="pt-BR" dirty="0"/>
              <a:t>75 ohms para TV e 50 ohms para telefonia celular</a:t>
            </a:r>
          </a:p>
        </p:txBody>
      </p:sp>
      <p:pic>
        <p:nvPicPr>
          <p:cNvPr id="2050" name="Picture 2" descr="O que é cabo coaxial?">
            <a:extLst>
              <a:ext uri="{FF2B5EF4-FFF2-40B4-BE49-F238E27FC236}">
                <a16:creationId xmlns:a16="http://schemas.microsoft.com/office/drawing/2014/main" id="{32111E51-0AFE-AF3D-6595-9C8D52F79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284" y="1964578"/>
            <a:ext cx="6096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065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E8A5B-F9C1-6ED7-3479-DF3B15232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Fibra óptica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20B459-0465-63A7-0088-F78FDD703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Fio fino e flexível de vidro feito de sílica</a:t>
            </a:r>
          </a:p>
          <a:p>
            <a:r>
              <a:rPr lang="pt-BR" sz="2400" dirty="0"/>
              <a:t>Transmite dados a partir de feixes de luz</a:t>
            </a:r>
          </a:p>
          <a:p>
            <a:r>
              <a:rPr lang="pt-BR" sz="2400" dirty="0"/>
              <a:t>A transmissão de dados pode chegar a 16Tbps</a:t>
            </a:r>
          </a:p>
          <a:p>
            <a:r>
              <a:rPr lang="pt-BR" sz="2400" dirty="0"/>
              <a:t>Usada em redes de longa distância e de alta velocidade</a:t>
            </a:r>
          </a:p>
          <a:p>
            <a:r>
              <a:rPr lang="pt-BR" sz="2400" dirty="0"/>
              <a:t>Não sofrem interferências eletromagnéticas</a:t>
            </a:r>
          </a:p>
        </p:txBody>
      </p:sp>
    </p:spTree>
    <p:extLst>
      <p:ext uri="{BB962C8B-B14F-4D97-AF65-F5344CB8AC3E}">
        <p14:creationId xmlns:p14="http://schemas.microsoft.com/office/powerpoint/2010/main" val="2020562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ABB81-F1ED-F286-9CFF-7985EE026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9DB85-F6FE-A66B-3E79-FDE411DAA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Fibra óptica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AC2839-D8AD-61B5-04BA-677B20863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Existem dois tipos de fibras ópticas:</a:t>
            </a:r>
          </a:p>
          <a:p>
            <a:pPr lvl="1"/>
            <a:r>
              <a:rPr lang="pt-BR" sz="2200" dirty="0" err="1"/>
              <a:t>Monomodo</a:t>
            </a:r>
            <a:r>
              <a:rPr lang="pt-BR" sz="2200" dirty="0"/>
              <a:t>: o núcleo da fibra é tão fino que permite que a luz se propague em um único feixe. Pode propagar-se a até 80km de distância</a:t>
            </a:r>
          </a:p>
          <a:p>
            <a:pPr lvl="1"/>
            <a:r>
              <a:rPr lang="pt-BR" sz="2200" dirty="0"/>
              <a:t>Multimodo: o núcleo da fibra é mais espesso, sendo mais barata a sua fabricação. Alcança no máximo 550m</a:t>
            </a:r>
          </a:p>
        </p:txBody>
      </p:sp>
    </p:spTree>
    <p:extLst>
      <p:ext uri="{BB962C8B-B14F-4D97-AF65-F5344CB8AC3E}">
        <p14:creationId xmlns:p14="http://schemas.microsoft.com/office/powerpoint/2010/main" val="4203803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AB1AA-37B5-2A9E-E317-C8761576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cabos de fibra óptica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28D3F7-4DCC-B08F-740F-6A907E30C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MONOMODO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72D15C-DB1C-59FE-2329-CBB8D5017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MULTIMODO</a:t>
            </a:r>
          </a:p>
        </p:txBody>
      </p:sp>
      <p:pic>
        <p:nvPicPr>
          <p:cNvPr id="4098" name="Picture 2" descr="Cabo Óptico Monomodo 12FO EO COG">
            <a:extLst>
              <a:ext uri="{FF2B5EF4-FFF2-40B4-BE49-F238E27FC236}">
                <a16:creationId xmlns:a16="http://schemas.microsoft.com/office/drawing/2014/main" id="{EF82BFF4-ABED-117C-88A4-976A9DDD3F5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925763"/>
            <a:ext cx="2935287" cy="293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FOA-MM50-DDR-G-6FO Prysmian cabo óptico multimodo 50/125 6 fibras">
            <a:extLst>
              <a:ext uri="{FF2B5EF4-FFF2-40B4-BE49-F238E27FC236}">
                <a16:creationId xmlns:a16="http://schemas.microsoft.com/office/drawing/2014/main" id="{E56A59B2-B090-EE40-8285-9BF8A4558EC6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963" y="2925763"/>
            <a:ext cx="2935287" cy="293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200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064AD-2703-6BC1-64E5-FB60A332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Transmissão via rádio terrestre ou micro-ondas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75E4FE-C7A0-53D7-CD9B-97AFFD88E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utiliza fios e podem atingir grandes distâncias</a:t>
            </a:r>
          </a:p>
          <a:p>
            <a:r>
              <a:rPr lang="pt-BR" dirty="0"/>
              <a:t>Barreiras físicas ou sinais eletromagnéticos podem impedir sua propagação</a:t>
            </a:r>
          </a:p>
          <a:p>
            <a:r>
              <a:rPr lang="pt-BR" dirty="0"/>
              <a:t>Para propagação são instaladas torres que funcionam como estações repetidoras de micro-ondas</a:t>
            </a:r>
          </a:p>
          <a:p>
            <a:r>
              <a:rPr lang="pt-BR" dirty="0"/>
              <a:t>A propagação se dá em linha reta</a:t>
            </a:r>
          </a:p>
          <a:p>
            <a:r>
              <a:rPr lang="pt-BR" dirty="0"/>
              <a:t>Utilizado em telefonia celular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F60ABD-1E4C-1E99-5C68-F140188C59B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4243" y="4106780"/>
            <a:ext cx="6351657" cy="24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27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pt-BR">
                <a:solidFill>
                  <a:srgbClr val="FFFFFF"/>
                </a:solidFill>
              </a:rPr>
              <a:t>Obrigado</a:t>
            </a:r>
          </a:p>
        </p:txBody>
      </p:sp>
      <p:pic>
        <p:nvPicPr>
          <p:cNvPr id="5" name="Imagem 4" descr="Números Digitai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6" name="Subtítulo 5">
            <a:extLst>
              <a:ext uri="{FF2B5EF4-FFF2-40B4-BE49-F238E27FC236}">
                <a16:creationId xmlns:a16="http://schemas.microsoft.com/office/drawing/2014/main" id="{6C157E87-61FE-D385-11C2-DF2BAE8939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438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Design tecnológico</Template>
  <TotalTime>1645</TotalTime>
  <Words>1103</Words>
  <Application>Microsoft Office PowerPoint</Application>
  <PresentationFormat>Widescreen</PresentationFormat>
  <Paragraphs>81</Paragraphs>
  <Slides>22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Arial</vt:lpstr>
      <vt:lpstr>Calibri</vt:lpstr>
      <vt:lpstr>Gill Sans MT</vt:lpstr>
      <vt:lpstr>Wingdings</vt:lpstr>
      <vt:lpstr>Wingdings 2</vt:lpstr>
      <vt:lpstr>Personalizado</vt:lpstr>
      <vt:lpstr>REDES DE COMPUTADORES</vt:lpstr>
      <vt:lpstr>O avanço da comunicação</vt:lpstr>
      <vt:lpstr>O QUE SÃO REDES</vt:lpstr>
      <vt:lpstr>O QUE SÃO REDES</vt:lpstr>
      <vt:lpstr>Dados que podem ser transmitidos</vt:lpstr>
      <vt:lpstr>Redes ponto a ponto</vt:lpstr>
      <vt:lpstr>Redes cliente-servidor</vt:lpstr>
      <vt:lpstr>Como funciona a transmissão</vt:lpstr>
      <vt:lpstr>Como funciona a transmissão</vt:lpstr>
      <vt:lpstr>Como funciona a transmissão</vt:lpstr>
      <vt:lpstr>Modos de operação</vt:lpstr>
      <vt:lpstr>Modos de operação</vt:lpstr>
      <vt:lpstr>Meios de comunicação</vt:lpstr>
      <vt:lpstr>Cabos de par trançado</vt:lpstr>
      <vt:lpstr>Cabos de par trançado</vt:lpstr>
      <vt:lpstr>Cabos de par trançado</vt:lpstr>
      <vt:lpstr>Cabos coaxiais</vt:lpstr>
      <vt:lpstr>Fibra óptica</vt:lpstr>
      <vt:lpstr>Fibra óptica</vt:lpstr>
      <vt:lpstr>Tipos de cabos de fibra óptica</vt:lpstr>
      <vt:lpstr>Transmissão via rádio terrestre ou micro-ondas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Joel Teixeira Cunha</dc:creator>
  <cp:lastModifiedBy>Joel Teixeira Cunha</cp:lastModifiedBy>
  <cp:revision>10</cp:revision>
  <dcterms:created xsi:type="dcterms:W3CDTF">2026-02-26T16:04:08Z</dcterms:created>
  <dcterms:modified xsi:type="dcterms:W3CDTF">2026-03-03T15:13:20Z</dcterms:modified>
</cp:coreProperties>
</file>